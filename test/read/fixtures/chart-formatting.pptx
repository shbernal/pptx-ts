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1" u="none" strike="noStrike" kern="1200" spc="0" baseline="0">
                <a:solidFill>
                  <a:srgbClr val="9B1B30"/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r>
              <a:rPr lang="en-US" sz="2400" b="1" i="1">
                <a:solidFill>
                  <a:srgbClr val="9B1B30"/>
                </a:solidFill>
                <a:latin typeface="Georgia" panose="02040502050405020303" pitchFamily="18" charset="0"/>
              </a:rPr>
              <a:t>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1" u="none" strike="noStrike" kern="1200" spc="0" baseline="0">
              <a:solidFill>
                <a:srgbClr val="9B1B30"/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4755999250093741E-2"/>
          <c:y val="0.10535621362547073"/>
          <c:w val="0.61904761904761907"/>
          <c:h val="0.5434782608695651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250F6B">
                <a:alpha val="60000"/>
              </a:srgbClr>
            </a:solidFill>
            <a:ln>
              <a:noFill/>
            </a:ln>
            <a:effectLst>
              <a:outerShdw blurRad="63500" dist="37357" dir="2700000" rotWithShape="0">
                <a:srgbClr val="9B1B30"/>
              </a:outerShdw>
            </a:effectLst>
          </c:spPr>
          <c:invertIfNegative val="0"/>
          <c:dLbls>
            <c:numFmt formatCode="0.0" sourceLinked="0"/>
            <c:spPr>
              <a:solidFill>
                <a:srgbClr val="9B1B3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4000</c:v>
                </c:pt>
                <c:pt idx="1">
                  <c:v>7000</c:v>
                </c:pt>
                <c:pt idx="2">
                  <c:v>5000</c:v>
                </c:pt>
                <c:pt idx="3">
                  <c:v>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5D-4A1F-80B3-9B5431D3CD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3000</c:v>
                </c:pt>
                <c:pt idx="1">
                  <c:v>5000</c:v>
                </c:pt>
                <c:pt idx="2">
                  <c:v>8000</c:v>
                </c:pt>
                <c:pt idx="3">
                  <c:v>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5D-4A1F-80B3-9B5431D3CD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  <c:axId val="381135279"/>
        <c:axId val="290305391"/>
      </c:barChart>
      <c:catAx>
        <c:axId val="3811352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9B1B3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305391"/>
        <c:crosses val="autoZero"/>
        <c:auto val="1"/>
        <c:lblAlgn val="ctr"/>
        <c:lblOffset val="100"/>
        <c:tickLblSkip val="2"/>
        <c:noMultiLvlLbl val="0"/>
      </c:catAx>
      <c:valAx>
        <c:axId val="2903053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9B1B30"/>
              </a:solidFill>
              <a:prstDash val="dash"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rgbClr val="9B1B3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rgbClr val="9B1B30"/>
                    </a:solidFill>
                  </a:rPr>
                  <a:t>Thousands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rgbClr val="9B1B3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>
            <a:solidFill>
              <a:srgbClr val="9B1B3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1135279"/>
        <c:crossesAt val="2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dTable>
        <c:showHorzBorder val="1"/>
        <c:showVertBorder val="0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solidFill>
          <a:srgbClr val="DDE3F0"/>
        </a:solidFill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3809523809523812"/>
          <c:y val="0.26956521739130435"/>
          <c:w val="6.7971597300337458E-2"/>
          <c:h val="9.96480657309140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0C808"/>
    </a:solidFill>
    <a:ln w="25400">
      <a:solidFill>
        <a:srgbClr val="9B1B3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Sheet1!$A$2:$A$5</c:f>
              <c:numCache>
                <c:formatCode>General</c:formatCode>
                <c:ptCount val="4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7</c:v>
                </c:pt>
                <c:pt idx="3">
                  <c:v>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98A-4A1B-867A-CD21259CC1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Sheet1!$A$2:$A$5</c:f>
              <c:numCache>
                <c:formatCode>General</c:formatCode>
                <c:ptCount val="4"/>
                <c:pt idx="0">
                  <c:v>46023</c:v>
                </c:pt>
                <c:pt idx="1">
                  <c:v>46054</c:v>
                </c:pt>
                <c:pt idx="2">
                  <c:v>46082</c:v>
                </c:pt>
                <c:pt idx="3">
                  <c:v>46113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8</c:v>
                </c:pt>
                <c:pt idx="3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8A-4A1B-867A-CD21259CC1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upDownBars>
          <c:gapWidth val="219"/>
          <c:upBars>
            <c:spPr>
              <a:solidFill>
                <a:schemeClr val="lt1"/>
              </a:solidFill>
              <a:ln w="9525">
                <a:solidFill>
                  <a:schemeClr val="tx1">
                    <a:lumMod val="15000"/>
                    <a:lumOff val="85000"/>
                  </a:schemeClr>
                </a:solidFill>
              </a:ln>
              <a:effectLst/>
            </c:spPr>
          </c:upBars>
          <c:downBars>
            <c:spPr>
              <a:solidFill>
                <a:schemeClr val="dk1">
                  <a:lumMod val="65000"/>
                  <a:lumOff val="35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c:spPr>
          </c:downBars>
        </c:upDownBars>
        <c:marker val="1"/>
        <c:smooth val="0"/>
        <c:axId val="466604160"/>
        <c:axId val="290336591"/>
      </c:lineChart>
      <c:dateAx>
        <c:axId val="466604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336591"/>
        <c:crosses val="autoZero"/>
        <c:auto val="0"/>
        <c:lblOffset val="100"/>
        <c:baseTimeUnit val="months"/>
        <c:majorUnit val="1"/>
        <c:majorTimeUnit val="months"/>
      </c:dateAx>
      <c:valAx>
        <c:axId val="290336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6604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22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48-4BDC-BEBD-1B94F7E10B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20"/>
      <c:rotY val="60"/>
      <c:depthPercent val="100"/>
      <c:rAngAx val="0"/>
      <c:perspective val="4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0-9EBF-4EA1-B6A3-E4044BF936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1-9EBF-4EA1-B6A3-E4044BF93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300"/>
        <c:shape val="box"/>
        <c:axId val="468860640"/>
        <c:axId val="290334191"/>
        <c:axId val="464562448"/>
      </c:bar3DChart>
      <c:catAx>
        <c:axId val="468860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334191"/>
        <c:crosses val="autoZero"/>
        <c:auto val="1"/>
        <c:lblAlgn val="ctr"/>
        <c:lblOffset val="100"/>
        <c:noMultiLvlLbl val="0"/>
      </c:catAx>
      <c:valAx>
        <c:axId val="290334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8860640"/>
        <c:crosses val="autoZero"/>
        <c:crossBetween val="between"/>
      </c:valAx>
      <c:serAx>
        <c:axId val="4645624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Region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334191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7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29-48ED-9FA6-2F253CFFC5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1494239"/>
        <c:axId val="290242991"/>
      </c:radarChart>
      <c:catAx>
        <c:axId val="2914942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242991"/>
        <c:crosses val="autoZero"/>
        <c:auto val="1"/>
        <c:lblAlgn val="ctr"/>
        <c:lblOffset val="100"/>
        <c:noMultiLvlLbl val="0"/>
      </c:catAx>
      <c:valAx>
        <c:axId val="290242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1494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1"/>
        <c:ser>
          <c:idx val="0"/>
          <c:order val="0"/>
          <c:tx>
            <c:strRef>
              <c:f>Sheet1!$A$2</c:f>
              <c:strCache>
                <c:ptCount val="1"/>
                <c:pt idx="0">
                  <c:v>Q1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/>
          </c:spPr>
          <c:cat>
            <c:strRef>
              <c:f>Sheet1!$B$1:$D$1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8B-4208-9A2F-A225FD0D3F33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Q2</c:v>
                </c:pt>
              </c:strCache>
            </c:strRef>
          </c:tx>
          <c:spPr>
            <a:ln w="9525" cap="rnd">
              <a:solidFill>
                <a:schemeClr val="accent2"/>
              </a:solidFill>
              <a:round/>
            </a:ln>
            <a:effectLst/>
          </c:spPr>
          <c:cat>
            <c:strRef>
              <c:f>Sheet1!$B$1:$D$1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Sheet1!$B$3:$D$3</c:f>
              <c:numCache>
                <c:formatCode>General</c:formatCode>
                <c:ptCount val="3"/>
                <c:pt idx="0">
                  <c:v>7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8B-4208-9A2F-A225FD0D3F33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Q3</c:v>
                </c:pt>
              </c:strCache>
            </c:strRef>
          </c:tx>
          <c:spPr>
            <a:ln w="9525" cap="rnd">
              <a:solidFill>
                <a:schemeClr val="accent3"/>
              </a:solidFill>
              <a:round/>
            </a:ln>
            <a:effectLst/>
          </c:spPr>
          <c:cat>
            <c:strRef>
              <c:f>Sheet1!$B$1:$D$1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</c:strCache>
            </c:strRef>
          </c:cat>
          <c:val>
            <c:numRef>
              <c:f>Sheet1!$B$4:$D$4</c:f>
              <c:numCache>
                <c:formatCode>General</c:formatCode>
                <c:ptCount val="3"/>
                <c:pt idx="0">
                  <c:v>5</c:v>
                </c:pt>
                <c:pt idx="1">
                  <c:v>8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8B-4208-9A2F-A225FD0D3F33}"/>
            </c:ext>
          </c:extLst>
        </c:ser>
        <c:bandFmts>
          <c:bandFmt>
            <c:idx val="0"/>
            <c:spPr>
              <a:ln w="9525" cap="rnd">
                <a:solidFill>
                  <a:schemeClr val="accent1"/>
                </a:solidFill>
                <a:round/>
              </a:ln>
              <a:effectLst/>
            </c:spPr>
          </c:bandFmt>
          <c:bandFmt>
            <c:idx val="1"/>
            <c:spPr>
              <a:ln w="9525" cap="rnd">
                <a:solidFill>
                  <a:schemeClr val="accent2"/>
                </a:solidFill>
                <a:round/>
              </a:ln>
              <a:effectLst/>
            </c:spPr>
          </c:bandFmt>
          <c:bandFmt>
            <c:idx val="2"/>
            <c:spPr>
              <a:ln w="9525" cap="rnd">
                <a:solidFill>
                  <a:schemeClr val="accent3"/>
                </a:solidFill>
                <a:round/>
              </a:ln>
              <a:effectLst/>
            </c:spPr>
          </c:bandFmt>
          <c:bandFmt>
            <c:idx val="3"/>
            <c:spPr>
              <a:ln w="9525" cap="rnd">
                <a:solidFill>
                  <a:schemeClr val="accent4"/>
                </a:solidFill>
                <a:round/>
              </a:ln>
              <a:effectLst/>
            </c:spPr>
          </c:bandFmt>
          <c:bandFmt>
            <c:idx val="4"/>
            <c:spPr>
              <a:ln w="9525" cap="rnd">
                <a:solidFill>
                  <a:schemeClr val="accent5"/>
                </a:solidFill>
                <a:round/>
              </a:ln>
              <a:effectLst/>
            </c:spPr>
          </c:bandFmt>
          <c:bandFmt>
            <c:idx val="5"/>
            <c:spPr>
              <a:ln w="9525" cap="rnd">
                <a:solidFill>
                  <a:schemeClr val="accent6"/>
                </a:solidFill>
                <a:round/>
              </a:ln>
              <a:effectLst/>
            </c:spPr>
          </c:bandFmt>
          <c:bandFmt>
            <c:idx val="6"/>
            <c:spPr>
              <a:ln w="9525" cap="rnd">
                <a:solidFill>
                  <a:schemeClr val="accent1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7"/>
            <c:spPr>
              <a:ln w="9525" cap="rnd">
                <a:solidFill>
                  <a:schemeClr val="accent2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8"/>
            <c:spPr>
              <a:ln w="9525" cap="rnd">
                <a:solidFill>
                  <a:schemeClr val="accent3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9"/>
            <c:spPr>
              <a:ln w="9525" cap="rnd">
                <a:solidFill>
                  <a:schemeClr val="accent4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0"/>
            <c:spPr>
              <a:ln w="9525" cap="rnd">
                <a:solidFill>
                  <a:schemeClr val="accent5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1"/>
            <c:spPr>
              <a:ln w="9525" cap="rnd">
                <a:solidFill>
                  <a:schemeClr val="accent6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2"/>
            <c:spPr>
              <a:ln w="9525" cap="rnd">
                <a:solidFill>
                  <a:schemeClr val="accent1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3"/>
            <c:spPr>
              <a:ln w="9525" cap="rnd">
                <a:solidFill>
                  <a:schemeClr val="accent2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4"/>
            <c:spPr>
              <a:ln w="9525" cap="rnd">
                <a:solidFill>
                  <a:schemeClr val="accent3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</c:bandFmts>
        <c:axId val="102136623"/>
        <c:axId val="290300111"/>
        <c:axId val="464571408"/>
      </c:surface3DChart>
      <c:catAx>
        <c:axId val="10213662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300111"/>
        <c:crosses val="autoZero"/>
        <c:auto val="1"/>
        <c:lblAlgn val="ctr"/>
        <c:lblOffset val="100"/>
        <c:noMultiLvlLbl val="0"/>
      </c:catAx>
      <c:valAx>
        <c:axId val="290300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136623"/>
        <c:crosses val="autoZero"/>
        <c:crossBetween val="midCat"/>
      </c:valAx>
      <c:serAx>
        <c:axId val="46457140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300111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-3</c:v>
                </c:pt>
                <c:pt idx="2">
                  <c:v>5</c:v>
                </c:pt>
                <c:pt idx="3">
                  <c:v>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38-4C88-8CB2-8B40BE3E55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4211391"/>
        <c:axId val="290359631"/>
      </c:barChart>
      <c:catAx>
        <c:axId val="384211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359631"/>
        <c:crosses val="autoZero"/>
        <c:auto val="1"/>
        <c:lblAlgn val="ctr"/>
        <c:lblOffset val="100"/>
        <c:noMultiLvlLbl val="0"/>
      </c:catAx>
      <c:valAx>
        <c:axId val="290359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4211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rgbClr val="9B1B30"/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22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35-4CB0-9B2A-E7EE3FCF0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48B18-E2A5-F015-EBEC-173698843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545C8-CC7E-7944-014B-6DAC2C1DB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C70B1-314B-89DA-688C-7C021B4F2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BAB2B-7626-D609-CB34-DC5BAF8D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7F609-A4B1-ABA3-C45D-BE0FE410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7240C-FB13-15E8-054E-513F0455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48E5B-DA46-FCA8-5EF1-FACB5FBB7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8C6CD-7548-0975-75D6-EAFBB5973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E4327-3881-DDEE-28CD-75D88346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9CF36-5A68-2F37-A7A4-5AD2ADA2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5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1669-3CA9-05FC-727B-F8926820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CCF8D-BBEA-4862-2670-65C285B36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B3BDD-C7F1-0718-CFE5-CF535D05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B7001-0BC5-B82F-5201-E6E1A0CA7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291B4-FD54-ED8E-AC09-D23A396C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4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DB2D-CCD3-1047-8FE7-999DF58B9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A2F95-58C9-E8FA-1317-DC1F3BC69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7A240-FD2C-10DE-8F36-F36AFAE8F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70DE6-449C-D042-CE4B-EDBB32421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32E67-A74C-9562-F4E6-828C789B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A0C6A-66B6-4DBF-C328-3EB99E241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8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82AB0-4777-082B-FEE9-49C774937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CFDB3-A9FC-F0B9-F532-064F43E16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9995D-82AC-7785-105D-6C3FF817E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749AD-E0DD-5DB8-F66E-DF1EE00D7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A09420-F084-A900-C0DD-D6626F847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C7CA7E-4E1C-31C9-8EAD-E3BCDEF3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8BCEBD-EFED-680D-8AF2-74218392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1EA37-5D13-7140-FFD5-6F69B9B07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301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4F8C-12E9-FCED-7B27-E873ABE31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887EE-FDFD-ED2F-1A27-CF3EF9F91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AEDE0-9F0F-3292-7DC8-E3E6CFB9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5B3EF-3230-B394-31C4-7D06FFE9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6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3E692-3DBF-7C8F-78D6-5A808A76A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60C23-57CE-1190-EBC0-244EDA71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FEBCB-32AF-8579-9651-822A0FB1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1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6A7E3-7FCE-A6A2-34A0-A5B88C6FD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0116-0C0C-760A-6D8D-68B907275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CBF7A-F374-CABC-BFC4-8AD026CE7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40603-CA7A-CD0F-4118-D81FA8BC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B249F-C3D7-C8B2-DD0D-2AACA276C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E10D3-FE29-C571-23E7-94E94977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89A3E-7DA3-952D-6496-BF88669DD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65525-ADD2-03A7-1E4D-BA30B5B026B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F4B8E-A8F7-AEC3-9538-5E114F77D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73DCA-7196-00C5-EE99-925D73AD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01B5A-0628-5B8D-C214-354FA59A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BBB69-BA80-3613-1215-618D49043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4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3E7CB-3B70-06A7-9A38-195B889B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8E688B-7F6F-40E4-5016-5FC34D234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9621D-A371-376B-2224-3CD4845C2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801EC-926D-6DC8-BF24-92384F319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57E07-F91A-9ED7-4C16-523B1225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84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89782-E312-D4BF-548F-67FCD82C8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03776-6ABD-A3F0-B122-F036F2E28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D630F-B5DF-56B0-A245-6BA99EA90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0EC18-653E-DD43-690C-8E0BF210F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95AAE-CF38-FD36-628B-C177268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94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146D2E-A971-30E1-4B08-658FB1DD1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D7CC4-AFDE-2A80-5C85-CEDD7EA0E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9046B-DCEA-798B-9E49-52C5A9A44F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53A0A-CC1B-4280-8066-B55B775EA59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01EDE-CE37-87BB-3ADA-6DEE99E67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FCD73-F435-40ED-23DA-CC3A7EF9C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3E310-494C-4D31-B7B4-DC1248BF1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5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tacked-bar-chart">
            <a:extLst>
              <a:ext uri="{FF2B5EF4-FFF2-40B4-BE49-F238E27FC236}">
                <a16:creationId xmlns:a16="http://schemas.microsoft.com/office/drawing/2014/main" id="{3DE5DF11-FF07-93B6-3EB1-729EE39CEE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535885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3726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line-marker-chart">
            <a:extLst>
              <a:ext uri="{FF2B5EF4-FFF2-40B4-BE49-F238E27FC236}">
                <a16:creationId xmlns:a16="http://schemas.microsoft.com/office/drawing/2014/main" id="{E49119A1-7495-36E3-9D4C-F3E5DD1D12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7906794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62681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oughnut-chart">
            <a:extLst>
              <a:ext uri="{FF2B5EF4-FFF2-40B4-BE49-F238E27FC236}">
                <a16:creationId xmlns:a16="http://schemas.microsoft.com/office/drawing/2014/main" id="{1B437BF1-D609-C9E0-0DE4-8D7904E1C1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0465203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913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lumn-3d-chart">
            <a:extLst>
              <a:ext uri="{FF2B5EF4-FFF2-40B4-BE49-F238E27FC236}">
                <a16:creationId xmlns:a16="http://schemas.microsoft.com/office/drawing/2014/main" id="{85420F40-4036-4BDC-D808-713D3BC36D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5932696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3308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radar-filled-chart">
            <a:extLst>
              <a:ext uri="{FF2B5EF4-FFF2-40B4-BE49-F238E27FC236}">
                <a16:creationId xmlns:a16="http://schemas.microsoft.com/office/drawing/2014/main" id="{6EB89CB0-E92E-14D3-30DE-51C556E4B7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117895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5062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urface-wire-chart">
            <a:extLst>
              <a:ext uri="{FF2B5EF4-FFF2-40B4-BE49-F238E27FC236}">
                <a16:creationId xmlns:a16="http://schemas.microsoft.com/office/drawing/2014/main" id="{5BE3DFAC-8933-6796-A00C-DA7542F7A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5642226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861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invert-column-chart">
            <a:extLst>
              <a:ext uri="{FF2B5EF4-FFF2-40B4-BE49-F238E27FC236}">
                <a16:creationId xmlns:a16="http://schemas.microsoft.com/office/drawing/2014/main" id="{72560576-8A9A-12FA-7064-B15D6A0020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8925662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18613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ie-leader-chart">
            <a:extLst>
              <a:ext uri="{FF2B5EF4-FFF2-40B4-BE49-F238E27FC236}">
                <a16:creationId xmlns:a16="http://schemas.microsoft.com/office/drawing/2014/main" id="{8BAE3AA2-2E89-0802-4FF0-0786C0FA64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24722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73594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Custom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HERNÁNDEZ BERNAL</dc:creator>
  <cp:lastModifiedBy>Santiago HERNÁNDEZ BERNAL</cp:lastModifiedBy>
  <cp:revision>1</cp:revision>
  <dcterms:created xsi:type="dcterms:W3CDTF">2026-10-12T07:32:16Z</dcterms:created>
  <dcterms:modified xsi:type="dcterms:W3CDTF">2026-10-12T07:32:16Z</dcterms:modified>
</cp:coreProperties>
</file>